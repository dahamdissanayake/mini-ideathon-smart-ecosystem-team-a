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65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4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939E8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939E80">
              <a:alpha val="8000"/>
            </a:srgbClr>
          </a:solidFill>
          <a:ln/>
        </p:spPr>
      </p:sp>
      <p:pic>
        <p:nvPicPr>
          <p:cNvPr id="4" name="Image 0" descr="/home/claude/letgo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888" y="2395728"/>
            <a:ext cx="3931920" cy="12770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89608" y="3837354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C7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edge-first IoT and multi-agent ecosystem for daycare safety</a:t>
            </a:r>
            <a:endParaRPr lang="en-US" sz="15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C7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child activity monitoring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23848" y="5532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0" dirty="0">
                <a:solidFill>
                  <a:srgbClr val="93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COMPUTER SOCIETY R10 SUMMER SCHOOL 2026     ·     MINI IDEATHON     ·     SDG 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daycares still do by hand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561527" y="530352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3F4A37"/>
          </a:solidFill>
          <a:ln/>
        </p:spPr>
      </p:sp>
      <p:sp>
        <p:nvSpPr>
          <p:cNvPr id="7" name="Text 4"/>
          <p:cNvSpPr/>
          <p:nvPr/>
        </p:nvSpPr>
        <p:spPr>
          <a:xfrm>
            <a:off x="8561527" y="5303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 ·  GOOD HEALTH &amp; WELL-BEING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169164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ECEEE7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828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86968" y="26517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adult can watch every child, every second.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86968" y="44348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ratios make continuous individual attention physically impossible. This isn’t a failure of carers, it’s a limit of the model.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84648" y="1783080"/>
            <a:ext cx="402336" cy="402336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84648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51576" y="1737360"/>
            <a:ext cx="58731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51576" y="2057400"/>
            <a:ext cx="587319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 or tablet form signed at drop-off. It has no idea if a child later leaves the premises.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51576" y="3008376"/>
            <a:ext cx="5873191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84648" y="3154680"/>
            <a:ext cx="402336" cy="402336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84648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751576" y="3108960"/>
            <a:ext cx="58731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51576" y="3429000"/>
            <a:ext cx="587319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carer per group, by line of sight. A child out of view is, by definition, unmonitored.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51576" y="4379976"/>
            <a:ext cx="5873191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84648" y="4526280"/>
            <a:ext cx="402336" cy="402336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84648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751576" y="4480560"/>
            <a:ext cx="58731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incidents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751576" y="4800600"/>
            <a:ext cx="587319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record exists. Parents get a verbal summary; detection depends on a carer noticing.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LetGo Band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LetGo Band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37360"/>
            <a:ext cx="4846320" cy="3931920"/>
          </a:xfrm>
          <a:prstGeom prst="roundRect">
            <a:avLst>
              <a:gd name="adj" fmla="val 2791"/>
            </a:avLst>
          </a:prstGeom>
          <a:solidFill>
            <a:srgbClr val="ECEEE7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464481"/>
            <a:ext cx="4370832" cy="2477678"/>
          </a:xfrm>
          <a:prstGeom prst="roundRect">
            <a:avLst>
              <a:gd name="adj" fmla="val 332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pic>
        <p:nvPicPr>
          <p:cNvPr id="8" name="Image 1" descr="/home/claude/letgo/assets/product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592497"/>
            <a:ext cx="4114800" cy="22216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70448" y="1783080"/>
            <a:ext cx="57543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tamper-evident activity band for daycare, paired with a facility gateway that runs the reasoning locally, so children stay safer without staff or parents watching a screen all day.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870448" y="3127248"/>
            <a:ext cx="475488" cy="475488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11" name="Image 2" descr="/home/claude/letgo/assets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327355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10528" y="3090672"/>
            <a:ext cx="5114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continuously, tamper-evident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510528" y="3401568"/>
            <a:ext cx="51142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resistive strap loop knows worn, removed and tampered, instantly and deterministically.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870448" y="4096512"/>
            <a:ext cx="475488" cy="475488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15" name="Image 3" descr="/home/claude/letgo/assets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424281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10528" y="4059936"/>
            <a:ext cx="5114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only to the facility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510528" y="4370832"/>
            <a:ext cx="51142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broadcast to on-site anchors, never to the open internet.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870448" y="5065776"/>
            <a:ext cx="475488" cy="475488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19" name="Image 4" descr="/home/claude/letgo/assets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5212080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10528" y="5029200"/>
            <a:ext cx="5114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see a real day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510528" y="5340096"/>
            <a:ext cx="51142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minutes and movement, not a rushed verbal handover at pickup.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37360"/>
            <a:ext cx="3490874" cy="2011680"/>
          </a:xfrm>
          <a:prstGeom prst="roundRect">
            <a:avLst>
              <a:gd name="adj" fmla="val 4091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385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letgo/assets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084832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" y="2542032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by design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86384" y="2907792"/>
            <a:ext cx="30519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strap loop distinguishes worn, removed and tampered in real time.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50410" y="1737360"/>
            <a:ext cx="3490874" cy="2011680"/>
          </a:xfrm>
          <a:prstGeom prst="roundRect">
            <a:avLst>
              <a:gd name="adj" fmla="val 4091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69866" y="19385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/home/claude/letgo/assets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70" y="2084832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9866" y="2542032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alerts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69866" y="2907792"/>
            <a:ext cx="30519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events reach staff before they become incidents.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33893" y="1737360"/>
            <a:ext cx="3490874" cy="2011680"/>
          </a:xfrm>
          <a:prstGeom prst="roundRect">
            <a:avLst>
              <a:gd name="adj" fmla="val 4091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53349" y="19385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3" descr="/home/claude/letgo/assets/icons/p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653" y="208483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3349" y="2542032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presence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53349" y="2907792"/>
            <a:ext cx="30519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track which room a child is in, not just device presence.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66928" y="3968496"/>
            <a:ext cx="3490874" cy="2011680"/>
          </a:xfrm>
          <a:prstGeom prst="roundRect">
            <a:avLst>
              <a:gd name="adj" fmla="val 4091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86384" y="41696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4" descr="/home/claude/letgo/assets/icons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315968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6384" y="4773168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attendance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86384" y="5138928"/>
            <a:ext cx="30519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Clip, motion and roster reconciled automatically, no register needed.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350410" y="3968496"/>
            <a:ext cx="3490874" cy="2011680"/>
          </a:xfrm>
          <a:prstGeom prst="roundRect">
            <a:avLst>
              <a:gd name="adj" fmla="val 4091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69866" y="41696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5" descr="/home/claude/letgo/assets/icons/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6170" y="431596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69866" y="4773168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daily record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569866" y="5138928"/>
            <a:ext cx="30519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see active minutes and movement, not a verbal summary.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133893" y="3968496"/>
            <a:ext cx="3490874" cy="2011680"/>
          </a:xfrm>
          <a:prstGeom prst="roundRect">
            <a:avLst>
              <a:gd name="adj" fmla="val 4091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53349" y="41696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6" descr="/home/claude/letgo/assets/icons/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9653" y="4315968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53349" y="4773168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53349" y="5138928"/>
            <a:ext cx="30519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motion never leaves the building; only summaries reach the cloud.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66548" y="233172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2368" y="262432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letgo/assets/icons/w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672" y="27706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276" y="34107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03708" y="3794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Worn, broadcasts only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53132" y="3497580"/>
            <a:ext cx="658368" cy="0"/>
          </a:xfrm>
          <a:prstGeom prst="line">
            <a:avLst/>
          </a:prstGeom>
          <a:noFill/>
          <a:ln w="28575">
            <a:solidFill>
              <a:srgbClr val="939E80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375508" y="233172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21328" y="262432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/home/claude/letgo/assets/icons/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632" y="277063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85236" y="34107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12668" y="3794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every band, per zone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762092" y="3497580"/>
            <a:ext cx="658368" cy="0"/>
          </a:xfrm>
          <a:prstGeom prst="line">
            <a:avLst/>
          </a:prstGeom>
          <a:noFill/>
          <a:ln w="28575">
            <a:solidFill>
              <a:srgbClr val="939E8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484468" y="233172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3F4A3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30288" y="2624328"/>
            <a:ext cx="640080" cy="640080"/>
          </a:xfrm>
          <a:prstGeom prst="ellipse">
            <a:avLst/>
          </a:prstGeom>
          <a:solidFill>
            <a:srgbClr val="4A5940"/>
          </a:solidFill>
          <a:ln w="12700">
            <a:solidFill>
              <a:srgbClr val="4A5940"/>
            </a:solidFill>
            <a:prstDash val="solid"/>
          </a:ln>
        </p:spPr>
      </p:sp>
      <p:pic>
        <p:nvPicPr>
          <p:cNvPr id="20" name="Image 3" descr="/home/claude/letgo/assets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6592" y="277063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94196" y="34107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621628" y="3794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run here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871052" y="3497580"/>
            <a:ext cx="658368" cy="0"/>
          </a:xfrm>
          <a:prstGeom prst="line">
            <a:avLst/>
          </a:prstGeom>
          <a:noFill/>
          <a:ln w="28575">
            <a:solidFill>
              <a:srgbClr val="939E80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9593428" y="233172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439248" y="262432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/home/claude/letgo/assets/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5552" y="277063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03156" y="341071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730588" y="3794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summaries only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66928" y="504748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F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runs on the gateway. Only encrypted summaries ever leave the building.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66928" y="53949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specification and code:  github.com/DahamDissanayake/mini-ideathon-smart-ecosystem-team-A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LAYER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&amp; connectivity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3246120" cy="3749040"/>
          </a:xfrm>
          <a:prstGeom prst="roundRect">
            <a:avLst>
              <a:gd name="adj" fmla="val 2817"/>
            </a:avLst>
          </a:prstGeom>
          <a:solidFill>
            <a:srgbClr val="3F4A37"/>
          </a:solidFill>
          <a:ln/>
        </p:spPr>
      </p:sp>
      <p:sp>
        <p:nvSpPr>
          <p:cNvPr id="7" name="Shape 4"/>
          <p:cNvSpPr/>
          <p:nvPr/>
        </p:nvSpPr>
        <p:spPr>
          <a:xfrm>
            <a:off x="886968" y="2240280"/>
            <a:ext cx="868680" cy="868680"/>
          </a:xfrm>
          <a:prstGeom prst="ellipse">
            <a:avLst/>
          </a:prstGeom>
          <a:solidFill>
            <a:srgbClr val="4A5940"/>
          </a:solidFill>
          <a:ln w="12700">
            <a:solidFill>
              <a:srgbClr val="4A5940"/>
            </a:solidFill>
            <a:prstDash val="solid"/>
          </a:ln>
        </p:spPr>
      </p:sp>
      <p:pic>
        <p:nvPicPr>
          <p:cNvPr id="8" name="Image 1" descr="/home/claude/letgo/assets/icons/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86584"/>
            <a:ext cx="576072" cy="5760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338328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radio choice per tier, not one radio for everything.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15968" y="1874520"/>
            <a:ext cx="402336" cy="402336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15968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82896" y="1828800"/>
            <a:ext cx="67418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82896" y="2148840"/>
            <a:ext cx="67418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IMU and a tamper-evident strap on an ESP32-C3, broadcasting over BLE and never connecting to anything.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82896" y="2935224"/>
            <a:ext cx="6741871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15968" y="3081528"/>
            <a:ext cx="402336" cy="402336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15968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82896" y="3035808"/>
            <a:ext cx="67418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anchors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82896" y="3355848"/>
            <a:ext cx="67418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Mains-powered listeners, one per room, turn broadcast signal strength into zone-level presence.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82896" y="4142232"/>
            <a:ext cx="6741871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15968" y="4288536"/>
            <a:ext cx="402336" cy="402336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1596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82896" y="4242816"/>
            <a:ext cx="67418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pipeline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882896" y="4562856"/>
            <a:ext cx="67418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generator streams schema-validated telemetry, so the full pipeline runs before any hardware ships.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layer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86968" y="4626691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7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TELEMETRY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86968" y="4864435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"strap": "CLIPPED",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"conf": 0.94 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agents, one guardrail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691640"/>
            <a:ext cx="2490140" cy="960120"/>
          </a:xfrm>
          <a:prstGeom prst="roundRect">
            <a:avLst>
              <a:gd name="adj" fmla="val 8571"/>
            </a:avLst>
          </a:prstGeom>
          <a:solidFill>
            <a:srgbClr val="ECEEE7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8379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letgo/assets/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198424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3584" y="1691640"/>
            <a:ext cx="1703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093644" y="2171700"/>
            <a:ext cx="292608" cy="0"/>
          </a:xfrm>
          <a:prstGeom prst="line">
            <a:avLst/>
          </a:prstGeom>
          <a:noFill/>
          <a:ln w="25400">
            <a:solidFill>
              <a:srgbClr val="939E80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422828" y="1691640"/>
            <a:ext cx="2490140" cy="960120"/>
          </a:xfrm>
          <a:prstGeom prst="roundRect">
            <a:avLst>
              <a:gd name="adj" fmla="val 8571"/>
            </a:avLst>
          </a:prstGeom>
          <a:solidFill>
            <a:srgbClr val="ECEEE7"/>
          </a:solidFill>
          <a:ln/>
        </p:spPr>
      </p:sp>
      <p:sp>
        <p:nvSpPr>
          <p:cNvPr id="12" name="Shape 8"/>
          <p:cNvSpPr/>
          <p:nvPr/>
        </p:nvSpPr>
        <p:spPr>
          <a:xfrm>
            <a:off x="3569132" y="18379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/home/claude/letgo/assets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436" y="1984248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99484" y="1691640"/>
            <a:ext cx="1703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specialist agents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949544" y="2171700"/>
            <a:ext cx="292608" cy="0"/>
          </a:xfrm>
          <a:prstGeom prst="line">
            <a:avLst/>
          </a:prstGeom>
          <a:noFill/>
          <a:ln w="25400">
            <a:solidFill>
              <a:srgbClr val="939E80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278728" y="1691640"/>
            <a:ext cx="2490140" cy="960120"/>
          </a:xfrm>
          <a:prstGeom prst="roundRect">
            <a:avLst>
              <a:gd name="adj" fmla="val 8571"/>
            </a:avLst>
          </a:prstGeom>
          <a:solidFill>
            <a:srgbClr val="3F4A37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5032" y="1837944"/>
            <a:ext cx="457200" cy="457200"/>
          </a:xfrm>
          <a:prstGeom prst="ellipse">
            <a:avLst/>
          </a:prstGeom>
          <a:solidFill>
            <a:srgbClr val="4A5940"/>
          </a:solidFill>
          <a:ln w="12700">
            <a:solidFill>
              <a:srgbClr val="4A5940"/>
            </a:solidFill>
            <a:prstDash val="solid"/>
          </a:ln>
        </p:spPr>
      </p:sp>
      <p:pic>
        <p:nvPicPr>
          <p:cNvPr id="18" name="Image 3" descr="/home/claude/letgo/assets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36" y="1984248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55384" y="1691640"/>
            <a:ext cx="1703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8805443" y="2171700"/>
            <a:ext cx="292608" cy="0"/>
          </a:xfrm>
          <a:prstGeom prst="line">
            <a:avLst/>
          </a:prstGeom>
          <a:noFill/>
          <a:ln w="25400">
            <a:solidFill>
              <a:srgbClr val="939E80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9134627" y="1691640"/>
            <a:ext cx="2490140" cy="960120"/>
          </a:xfrm>
          <a:prstGeom prst="roundRect">
            <a:avLst>
              <a:gd name="adj" fmla="val 8571"/>
            </a:avLst>
          </a:prstGeom>
          <a:solidFill>
            <a:srgbClr val="ECEEE7"/>
          </a:solidFill>
          <a:ln/>
        </p:spPr>
      </p:sp>
      <p:sp>
        <p:nvSpPr>
          <p:cNvPr id="22" name="Shape 16"/>
          <p:cNvSpPr/>
          <p:nvPr/>
        </p:nvSpPr>
        <p:spPr>
          <a:xfrm>
            <a:off x="9280931" y="18379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4" descr="/home/claude/letgo/assets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235" y="1984248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11283" y="1691640"/>
            <a:ext cx="1703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parents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66928" y="2907792"/>
            <a:ext cx="329184" cy="32918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66928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024128" y="2852928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Classifier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Model-backed.  Turns IMU features into an activity type with a confidence score.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566928" y="3383280"/>
            <a:ext cx="329184" cy="32918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6692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024128" y="3328416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Monitor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Deterministic.  Flags signal loss, early power-off, prolonged stillness and strap breach.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566928" y="3858768"/>
            <a:ext cx="329184" cy="32918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66928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024128" y="3803904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Resolver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Deterministic.  Smooths anchor signal strength into room-level presence.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66928" y="4334256"/>
            <a:ext cx="329184" cy="32918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6692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024128" y="4279392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Analyst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Model-backed.  Flags multi-day activity pattern changes for staff review only.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566928" y="4809744"/>
            <a:ext cx="329184" cy="32918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8DEC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6692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1024128" y="4754880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Manager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Deterministic.  Reconciles clip, motion and roster into one attendance state.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566928" y="5449824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3F4A3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49808" y="5586984"/>
            <a:ext cx="438912" cy="438912"/>
          </a:xfrm>
          <a:prstGeom prst="ellipse">
            <a:avLst/>
          </a:prstGeom>
          <a:solidFill>
            <a:srgbClr val="4A5940"/>
          </a:solidFill>
          <a:ln w="12700">
            <a:solidFill>
              <a:srgbClr val="4A5940"/>
            </a:solidFill>
            <a:prstDash val="solid"/>
          </a:ln>
        </p:spPr>
      </p:sp>
      <p:pic>
        <p:nvPicPr>
          <p:cNvPr id="42" name="Image 5" descr="/home/claude/letgo/assets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733288"/>
            <a:ext cx="146304" cy="14630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316736" y="5541264"/>
            <a:ext cx="10143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  </a:t>
            </a:r>
            <a:r>
              <a:rPr lang="en-US" sz="1400" dirty="0">
                <a:solidFill>
                  <a:srgbClr val="C7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engine, not a model. Checks every proposal against a signed policy, with veto power and no override.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orchestration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RISK (RAID)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privacy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3246120" cy="3749040"/>
          </a:xfrm>
          <a:prstGeom prst="roundRect">
            <a:avLst>
              <a:gd name="adj" fmla="val 2817"/>
            </a:avLst>
          </a:prstGeom>
          <a:solidFill>
            <a:srgbClr val="3F4A37"/>
          </a:solidFill>
          <a:ln/>
        </p:spPr>
      </p:sp>
      <p:sp>
        <p:nvSpPr>
          <p:cNvPr id="7" name="Shape 4"/>
          <p:cNvSpPr/>
          <p:nvPr/>
        </p:nvSpPr>
        <p:spPr>
          <a:xfrm>
            <a:off x="886968" y="2240280"/>
            <a:ext cx="822960" cy="822960"/>
          </a:xfrm>
          <a:prstGeom prst="ellipse">
            <a:avLst/>
          </a:prstGeom>
          <a:solidFill>
            <a:srgbClr val="4A5940"/>
          </a:solidFill>
          <a:ln w="12700">
            <a:solidFill>
              <a:srgbClr val="4A5940"/>
            </a:solidFill>
            <a:prstDash val="solid"/>
          </a:ln>
        </p:spPr>
      </p:sp>
      <p:pic>
        <p:nvPicPr>
          <p:cNvPr id="8" name="Image 1" descr="/home/claude/letgo/assets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86584"/>
            <a:ext cx="530352" cy="5303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333756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model includes the institution, not only outside attackers.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15968" y="1874520"/>
            <a:ext cx="730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LOG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15968" y="2258568"/>
            <a:ext cx="384048" cy="384048"/>
          </a:xfrm>
          <a:prstGeom prst="ellipse">
            <a:avLst/>
          </a:prstGeom>
          <a:solidFill>
            <a:srgbClr val="DEE3D3"/>
          </a:solidFill>
          <a:ln/>
        </p:spPr>
      </p:sp>
      <p:sp>
        <p:nvSpPr>
          <p:cNvPr id="12" name="Text 8"/>
          <p:cNvSpPr/>
          <p:nvPr/>
        </p:nvSpPr>
        <p:spPr>
          <a:xfrm>
            <a:off x="431596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2240280"/>
            <a:ext cx="6778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motion misread by an untrained classifier.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15968" y="2953512"/>
            <a:ext cx="7308799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15968" y="3099816"/>
            <a:ext cx="384048" cy="384048"/>
          </a:xfrm>
          <a:prstGeom prst="ellipse">
            <a:avLst/>
          </a:prstGeom>
          <a:solidFill>
            <a:srgbClr val="DEE3D3"/>
          </a:solidFill>
          <a:ln/>
        </p:spPr>
      </p:sp>
      <p:sp>
        <p:nvSpPr>
          <p:cNvPr id="16" name="Text 12"/>
          <p:cNvSpPr/>
          <p:nvPr/>
        </p:nvSpPr>
        <p:spPr>
          <a:xfrm>
            <a:off x="431596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846320" y="3081528"/>
            <a:ext cx="6778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facility has power and network for the gateway.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15968" y="3794760"/>
            <a:ext cx="7308799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15968" y="3941064"/>
            <a:ext cx="384048" cy="384048"/>
          </a:xfrm>
          <a:prstGeom prst="ellipse">
            <a:avLst/>
          </a:prstGeom>
          <a:solidFill>
            <a:srgbClr val="DEE3D3"/>
          </a:solidFill>
          <a:ln/>
        </p:spPr>
      </p:sp>
      <p:sp>
        <p:nvSpPr>
          <p:cNvPr id="20" name="Text 16"/>
          <p:cNvSpPr/>
          <p:nvPr/>
        </p:nvSpPr>
        <p:spPr>
          <a:xfrm>
            <a:off x="431596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846320" y="3922776"/>
            <a:ext cx="6778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labelled activity dataset exists yet.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315968" y="4636008"/>
            <a:ext cx="7308799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15968" y="4782312"/>
            <a:ext cx="384048" cy="384048"/>
          </a:xfrm>
          <a:prstGeom prst="ellipse">
            <a:avLst/>
          </a:prstGeom>
          <a:solidFill>
            <a:srgbClr val="DEE3D3"/>
          </a:solidFill>
          <a:ln/>
        </p:spPr>
      </p:sp>
      <p:sp>
        <p:nvSpPr>
          <p:cNvPr id="24" name="Text 20"/>
          <p:cNvSpPr/>
          <p:nvPr/>
        </p:nvSpPr>
        <p:spPr>
          <a:xfrm>
            <a:off x="4315968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846320" y="4764024"/>
            <a:ext cx="6778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per-facility signal calibration walk at setup.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315968" y="5477256"/>
            <a:ext cx="7308799" cy="0"/>
          </a:xfrm>
          <a:prstGeom prst="line">
            <a:avLst/>
          </a:prstGeom>
          <a:noFill/>
          <a:ln w="9525">
            <a:solidFill>
              <a:srgbClr val="D8DEC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6928" y="587959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 </a:t>
            </a: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minimised  ·  four adversaries in scope  ·  every decision signed and logged.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opportunity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347258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DECD"/>
            </a:solidFill>
            <a:prstDash val="solid"/>
          </a:ln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" y="2066544"/>
            <a:ext cx="307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$370B+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68096" y="3087014"/>
            <a:ext cx="307025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childcare &amp; early‑education services market, 2025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9554" y="1920240"/>
            <a:ext cx="347258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DECD"/>
            </a:solidFill>
            <a:prstDash val="solid"/>
          </a:ln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60722" y="2066544"/>
            <a:ext cx="307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$4.8B → $11.6B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60722" y="3087014"/>
            <a:ext cx="307025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GPS trackers &amp; wearables market, 2025 to 2034 (10.3% CAGR)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52181" y="1920240"/>
            <a:ext cx="347258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8DECD"/>
            </a:solidFill>
            <a:prstDash val="solid"/>
          </a:ln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53349" y="2066544"/>
            <a:ext cx="307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3F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10–19%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353349" y="3087014"/>
            <a:ext cx="307025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CAGR range across child-safety wearable categories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42976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and after-school care sit inside the broader childcare market; child-safety wearables are the fastest-growing adjacent category. Almost none of it is built for facilities rather than individual families.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6144768"/>
            <a:ext cx="922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Fortune Business Insights, Market Reports World, DataIntelo (2026 estimates)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purchase, not a subscription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electronic component is a one-time capital purchase. A facility buys the hardware once and owns it outright, with no per-child licence and no annual hardware renewal.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3472586" cy="2331720"/>
          </a:xfrm>
          <a:prstGeom prst="roundRect">
            <a:avLst>
              <a:gd name="adj" fmla="val 3922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8620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home/claude/letgo/assets/icons/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008376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05074" y="28986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F4A37"/>
          </a:solidFill>
          <a:ln/>
        </p:spPr>
      </p:sp>
      <p:sp>
        <p:nvSpPr>
          <p:cNvPr id="11" name="Text 7"/>
          <p:cNvSpPr/>
          <p:nvPr/>
        </p:nvSpPr>
        <p:spPr>
          <a:xfrm>
            <a:off x="2805074" y="28986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611880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2960" y="4014216"/>
            <a:ext cx="296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child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59554" y="2606040"/>
            <a:ext cx="3472586" cy="2331720"/>
          </a:xfrm>
          <a:prstGeom prst="roundRect">
            <a:avLst>
              <a:gd name="adj" fmla="val 3922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5586" y="28620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/home/claude/letgo/assets/icons/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890" y="3008376"/>
            <a:ext cx="256032" cy="25603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597701" y="28986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F4A37"/>
          </a:solidFill>
          <a:ln/>
        </p:spPr>
      </p:sp>
      <p:sp>
        <p:nvSpPr>
          <p:cNvPr id="18" name="Text 13"/>
          <p:cNvSpPr/>
          <p:nvPr/>
        </p:nvSpPr>
        <p:spPr>
          <a:xfrm>
            <a:off x="6597701" y="28986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615586" y="3611880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Anchor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15586" y="4014216"/>
            <a:ext cx="296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room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152181" y="2606040"/>
            <a:ext cx="3472586" cy="2331720"/>
          </a:xfrm>
          <a:prstGeom prst="roundRect">
            <a:avLst>
              <a:gd name="adj" fmla="val 3922"/>
            </a:avLst>
          </a:prstGeom>
          <a:solidFill>
            <a:srgbClr val="ECEEE7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08213" y="28620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/home/claude/letgo/assets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517" y="3008376"/>
            <a:ext cx="256032" cy="25603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0390327" y="28986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F4A37"/>
          </a:solidFill>
          <a:ln/>
        </p:spPr>
      </p:sp>
      <p:sp>
        <p:nvSpPr>
          <p:cNvPr id="25" name="Text 19"/>
          <p:cNvSpPr/>
          <p:nvPr/>
        </p:nvSpPr>
        <p:spPr>
          <a:xfrm>
            <a:off x="10390327" y="28986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408213" y="3611880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408213" y="4014216"/>
            <a:ext cx="296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facility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66928" y="52578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ongoing cost: cloud hosting for the parent portal, billed separately from the hardware.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12064" cy="512064"/>
          </a:xfrm>
          <a:prstGeom prst="ellipse">
            <a:avLst/>
          </a:prstGeom>
          <a:solidFill>
            <a:srgbClr val="DEE3D3"/>
          </a:solidFill>
          <a:ln w="12700">
            <a:solidFill>
              <a:srgbClr val="DEE3D3"/>
            </a:solidFill>
            <a:prstDash val="solid"/>
          </a:ln>
        </p:spPr>
      </p:sp>
      <p:pic>
        <p:nvPicPr>
          <p:cNvPr id="3" name="Image 0" descr="/home/claude/letgo/assets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492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3584" y="5120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43584" y="722376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Who’s behind LetGo Band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21208" y="1764792"/>
            <a:ext cx="1751533" cy="264435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pic>
        <p:nvPicPr>
          <p:cNvPr id="7" name="Image 1" descr="/home/claude/letgo/assets/team_round/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10512"/>
            <a:ext cx="1660093" cy="25529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4546308"/>
            <a:ext cx="1660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]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66928" y="483891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5131524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University ]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400757" y="1764792"/>
            <a:ext cx="1751533" cy="264435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pic>
        <p:nvPicPr>
          <p:cNvPr id="12" name="Image 2" descr="/home/claude/letgo/assets/team_round/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6477" y="1810512"/>
            <a:ext cx="1660093" cy="25529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46477" y="4546308"/>
            <a:ext cx="1660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]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446477" y="483891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446477" y="5131524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University ]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280306" y="1764792"/>
            <a:ext cx="1751533" cy="264435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pic>
        <p:nvPicPr>
          <p:cNvPr id="17" name="Image 3" descr="/home/claude/letgo/assets/team_round/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026" y="1810512"/>
            <a:ext cx="1660093" cy="25529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26026" y="4546308"/>
            <a:ext cx="1660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]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326026" y="483891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326026" y="5131524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University ]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59856" y="1764792"/>
            <a:ext cx="1751533" cy="264435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pic>
        <p:nvPicPr>
          <p:cNvPr id="22" name="Image 4" descr="/home/claude/letgo/assets/team_round/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576" y="1810512"/>
            <a:ext cx="1660093" cy="25529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05576" y="4546308"/>
            <a:ext cx="1660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]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205576" y="483891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205576" y="5131524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University ]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8039405" y="1764792"/>
            <a:ext cx="1751533" cy="264435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pic>
        <p:nvPicPr>
          <p:cNvPr id="27" name="Image 5" descr="/home/claude/letgo/assets/team_round/p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125" y="1810512"/>
            <a:ext cx="1660093" cy="255291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085125" y="4546308"/>
            <a:ext cx="1660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]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8085125" y="483891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085125" y="5131524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University ]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9918954" y="1764792"/>
            <a:ext cx="1751533" cy="2644356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2B3324">
                <a:alpha val="20000"/>
              </a:srgbClr>
            </a:outerShdw>
          </a:effectLst>
        </p:spPr>
      </p:sp>
      <p:pic>
        <p:nvPicPr>
          <p:cNvPr id="32" name="Image 6" descr="/home/claude/letgo/assets/team_round/p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4674" y="1810512"/>
            <a:ext cx="1660093" cy="255291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964674" y="4546308"/>
            <a:ext cx="1660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]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9964674" y="483891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9964674" y="5131524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University ]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8881567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LetGo Band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F4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669280" cy="5669280"/>
          </a:xfrm>
          <a:prstGeom prst="ellipse">
            <a:avLst/>
          </a:prstGeom>
          <a:solidFill>
            <a:srgbClr val="939E80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5120640" cy="5120640"/>
          </a:xfrm>
          <a:prstGeom prst="ellipse">
            <a:avLst/>
          </a:prstGeom>
          <a:solidFill>
            <a:srgbClr val="939E80">
              <a:alpha val="10000"/>
            </a:srgbClr>
          </a:solidFill>
          <a:ln/>
        </p:spPr>
      </p:sp>
      <p:pic>
        <p:nvPicPr>
          <p:cNvPr id="4" name="Image 0" descr="/home/claude/letgo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1965960"/>
            <a:ext cx="2377440" cy="772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38248" y="2880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38248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and the demo, whenever you’re ready.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23848" y="5532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40" dirty="0">
                <a:solidFill>
                  <a:srgbClr val="93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COMPUTER SOCIETY R10 SUMMER SCHOOL 2026     ·     MINI IDEATHON     ·     SDG 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Office PowerPoint</Application>
  <PresentationFormat>Widescreen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Daham Dissanayake</cp:lastModifiedBy>
  <cp:revision>2</cp:revision>
  <dcterms:created xsi:type="dcterms:W3CDTF">2026-09-04T23:37:52Z</dcterms:created>
  <dcterms:modified xsi:type="dcterms:W3CDTF">2026-09-04T23:46:43Z</dcterms:modified>
</cp:coreProperties>
</file>